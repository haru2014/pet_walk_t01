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19"/>
  </p:notesMasterIdLst>
  <p:sldIdLst>
    <p:sldId id="383" r:id="rId3"/>
    <p:sldId id="311" r:id="rId4"/>
    <p:sldId id="261" r:id="rId5"/>
    <p:sldId id="312" r:id="rId6"/>
    <p:sldId id="376" r:id="rId7"/>
    <p:sldId id="377" r:id="rId8"/>
    <p:sldId id="378" r:id="rId9"/>
    <p:sldId id="379" r:id="rId10"/>
    <p:sldId id="381" r:id="rId11"/>
    <p:sldId id="387" r:id="rId12"/>
    <p:sldId id="384" r:id="rId13"/>
    <p:sldId id="385" r:id="rId14"/>
    <p:sldId id="386" r:id="rId15"/>
    <p:sldId id="380" r:id="rId16"/>
    <p:sldId id="262" r:id="rId17"/>
    <p:sldId id="26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63705-FE20-4F24-98DB-4C3B5CFC6EBB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4287E-8C77-45FE-ADEC-9EA17D175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16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9C326B-237C-1C11-4CA2-63EF5E5E0E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19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52902D-EFEB-4C58-2E61-48767D5CD8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58166B-960A-B8BF-2F6B-A957DCD5F30E}"/>
              </a:ext>
            </a:extLst>
          </p:cNvPr>
          <p:cNvSpPr/>
          <p:nvPr userDrawn="1"/>
        </p:nvSpPr>
        <p:spPr>
          <a:xfrm>
            <a:off x="54753" y="899736"/>
            <a:ext cx="12090000" cy="54658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FCFEB96-2DF0-C11B-8B27-19960495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8" y="127733"/>
            <a:ext cx="10514542" cy="637198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rgbClr val="00153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6242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52902D-EFEB-4C58-2E61-48767D5CD8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58166B-960A-B8BF-2F6B-A957DCD5F30E}"/>
              </a:ext>
            </a:extLst>
          </p:cNvPr>
          <p:cNvSpPr/>
          <p:nvPr userDrawn="1"/>
        </p:nvSpPr>
        <p:spPr>
          <a:xfrm>
            <a:off x="54753" y="899736"/>
            <a:ext cx="12090000" cy="54658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25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FCFEB96-2DF0-C11B-8B27-19960495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8" y="127733"/>
            <a:ext cx="10514542" cy="637198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solidFill>
                  <a:srgbClr val="00153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3527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7C074-69B8-69B1-C377-35B2ED18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121F51-A109-4C38-0F55-A43BC62B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FFE8A-F94A-4294-AA0A-EF9896CB8DA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2888FC-8981-5D59-DC80-00E97A7D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B3B45-9EA3-9820-E2F5-82B463C2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7F5E-9152-49B9-9597-DA7F711B2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25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57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ctr" defTabSz="571477" rtl="0" eaLnBrk="1" latinLnBrk="0" hangingPunct="1"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04" indent="-214304" algn="l" defTabSz="5714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326" indent="-178587" algn="l" defTabSz="571477" rtl="0" eaLnBrk="1" latinLnBrk="0" hangingPunct="1">
        <a:spcBef>
          <a:spcPct val="20000"/>
        </a:spcBef>
        <a:buFont typeface="Arial" pitchFamily="34" charset="0"/>
        <a:buChar char="–"/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46" indent="-142869" algn="l" defTabSz="5714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00085" indent="-142869" algn="l" defTabSz="571477" rtl="0" eaLnBrk="1" latinLnBrk="0" hangingPunct="1">
        <a:spcBef>
          <a:spcPct val="20000"/>
        </a:spcBef>
        <a:buFont typeface="Arial" pitchFamily="34" charset="0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24" indent="-142869" algn="l" defTabSz="571477" rtl="0" eaLnBrk="1" latinLnBrk="0" hangingPunct="1">
        <a:spcBef>
          <a:spcPct val="20000"/>
        </a:spcBef>
        <a:buFont typeface="Arial" pitchFamily="34" charset="0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71562" indent="-142869" algn="l" defTabSz="571477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857301" indent="-142869" algn="l" defTabSz="571477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143039" indent="-142869" algn="l" defTabSz="571477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428778" indent="-142869" algn="l" defTabSz="571477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39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477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16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2954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693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431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170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5909" algn="l" defTabSz="571477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7B112D-0BC3-D58A-1C89-A4997AEA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A5C05A-5688-D1E2-3177-DA8FD1F3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E1416-5CAD-9B5F-F1D0-741A78601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FFE8A-F94A-4294-AA0A-EF9896CB8DA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6455D-60EC-0B6B-9B5E-B15AF115D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EF9F3B-5CAA-3B11-95A8-07EC01DA5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77F5E-9152-49B9-9597-DA7F711B2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51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hyperlink" Target="https://tilnote.io/pages/69fe96846d825d87e5f7d653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ylko72.gitbooks.io/git/content/branch/branch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83E432-901A-5095-276A-083C2016D009}"/>
              </a:ext>
            </a:extLst>
          </p:cNvPr>
          <p:cNvSpPr txBox="1"/>
          <p:nvPr/>
        </p:nvSpPr>
        <p:spPr>
          <a:xfrm>
            <a:off x="5681737" y="3633067"/>
            <a:ext cx="5667577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57147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67" b="0" i="0" u="none" strike="noStrike" kern="1200" cap="none" spc="-71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 </a:t>
            </a:r>
            <a:r>
              <a:rPr kumimoji="0" lang="ko-KR" altLang="en-US" sz="2667" b="0" i="0" u="none" strike="noStrike" kern="1200" cap="none" spc="-71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기반 </a:t>
            </a:r>
            <a:r>
              <a:rPr kumimoji="0" lang="ko-KR" altLang="en-US" sz="2667" b="0" i="0" u="none" strike="noStrike" kern="1200" cap="none" spc="-71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반려견</a:t>
            </a:r>
            <a:r>
              <a:rPr kumimoji="0" lang="ko-KR" altLang="en-US" sz="2667" b="0" i="0" u="none" strike="noStrike" kern="1200" cap="none" spc="-71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산책 지원 </a:t>
            </a:r>
            <a:r>
              <a:rPr kumimoji="0" lang="en-US" altLang="ko-KR" sz="2667" b="0" i="0" u="none" strike="noStrike" kern="1200" cap="none" spc="-71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Application </a:t>
            </a:r>
            <a:r>
              <a:rPr kumimoji="0" lang="ko-KR" altLang="en-US" sz="2667" b="0" i="0" u="none" strike="noStrike" kern="1200" cap="none" spc="-71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개발</a:t>
            </a:r>
            <a:endParaRPr kumimoji="0" lang="en-US" altLang="ko-KR" sz="2667" b="0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3B3838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72010-CDE2-A092-108E-9BCE565112BE}"/>
              </a:ext>
            </a:extLst>
          </p:cNvPr>
          <p:cNvSpPr txBox="1"/>
          <p:nvPr/>
        </p:nvSpPr>
        <p:spPr>
          <a:xfrm>
            <a:off x="5788861" y="2382053"/>
            <a:ext cx="5453330" cy="10257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571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33" b="1" i="0" u="none" strike="noStrike" kern="1200" cap="none" spc="0" normalizeH="0" baseline="0" noProof="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9549B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Codyssey</a:t>
            </a:r>
            <a:r>
              <a:rPr kumimoji="0" lang="en-US" altLang="ko-KR" sz="3333" b="1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9549B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AI Native</a:t>
            </a:r>
          </a:p>
          <a:p>
            <a:pPr marL="0" marR="0" lvl="0" indent="0" algn="ctr" defTabSz="571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33" b="1" i="0" u="none" strike="noStrike" kern="1200" cap="none" spc="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9549B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Final Project team building</a:t>
            </a:r>
            <a:endParaRPr kumimoji="0" lang="ko-KR" altLang="en-US" sz="3333" b="1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9549B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43DAE-FB96-32A9-FB1E-A85507566C86}"/>
              </a:ext>
            </a:extLst>
          </p:cNvPr>
          <p:cNvSpPr txBox="1"/>
          <p:nvPr/>
        </p:nvSpPr>
        <p:spPr>
          <a:xfrm>
            <a:off x="7047845" y="4268720"/>
            <a:ext cx="300329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57147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편안하개</a:t>
            </a:r>
            <a:endParaRPr kumimoji="0" lang="ko-KR" altLang="en-US" sz="1500" b="0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C564BB6-D8E6-E0CE-2D79-C4257E08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lnSpc>
                <a:spcPct val="104000"/>
              </a:lnSpc>
              <a:buFont typeface="Arial" pitchFamily="34" charset="0"/>
            </a:pPr>
            <a:r>
              <a:rPr lang="ko-KR" altLang="en-US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프로젝트는 프로젝트 목적을 점진적 상세화하는 과정</a:t>
            </a:r>
            <a:endParaRPr lang="ko-KR" altLang="en-US" sz="3700" dirty="0">
              <a:solidFill>
                <a:srgbClr val="152D47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7FEED9-564B-AB03-4CDF-4124435933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4CD309E-8C62-CA43-684F-85B6DE94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4000"/>
              </a:lnSpc>
            </a:pPr>
            <a:r>
              <a:rPr lang="en-US" altLang="ko-KR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AI</a:t>
            </a:r>
            <a:r>
              <a:rPr lang="ko-KR" altLang="en-US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이용한 </a:t>
            </a:r>
            <a:r>
              <a:rPr lang="en-US" altLang="ko-KR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No-Code</a:t>
            </a:r>
            <a:r>
              <a:rPr lang="ko-KR" altLang="en-US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개발</a:t>
            </a:r>
            <a:endParaRPr lang="ko-KR" altLang="en-US" sz="3700" dirty="0">
              <a:solidFill>
                <a:srgbClr val="152D47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9CCCBD-0463-5F92-8C4F-01CD25713E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7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3CC47EC-2D14-8C93-0D5F-E395BAF7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lnSpc>
                <a:spcPct val="104000"/>
              </a:lnSpc>
              <a:buFont typeface="Arial" pitchFamily="34" charset="0"/>
            </a:pPr>
            <a:r>
              <a:rPr lang="ko-KR" altLang="en-US" sz="3700">
                <a:solidFill>
                  <a:srgbClr val="152D4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프로젝트는 다양한 프로세스들로 구성</a:t>
            </a:r>
            <a:endParaRPr lang="ko-KR" altLang="en-US" sz="3700" dirty="0">
              <a:solidFill>
                <a:srgbClr val="152D47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5F20CA-658C-5110-2CF9-F5F761D487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 Useful Facts About Agile Scrum - Target Agility">
            <a:extLst>
              <a:ext uri="{FF2B5EF4-FFF2-40B4-BE49-F238E27FC236}">
                <a16:creationId xmlns:a16="http://schemas.microsoft.com/office/drawing/2014/main" id="{4E2EFD2F-1BF6-2C8E-7B48-1AE2E02CC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31D7DFC-EBE5-007E-0132-FD6DEBD81156}"/>
              </a:ext>
            </a:extLst>
          </p:cNvPr>
          <p:cNvCxnSpPr>
            <a:cxnSpLocks/>
          </p:cNvCxnSpPr>
          <p:nvPr/>
        </p:nvCxnSpPr>
        <p:spPr>
          <a:xfrm>
            <a:off x="381000" y="6021134"/>
            <a:ext cx="4140666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9A046C0-4995-BADA-2219-A774114A762C}"/>
              </a:ext>
            </a:extLst>
          </p:cNvPr>
          <p:cNvCxnSpPr>
            <a:cxnSpLocks/>
          </p:cNvCxnSpPr>
          <p:nvPr/>
        </p:nvCxnSpPr>
        <p:spPr>
          <a:xfrm>
            <a:off x="4690621" y="6020110"/>
            <a:ext cx="7120379" cy="102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0C3B58-6B0D-61BA-F455-6615BB1153E5}"/>
              </a:ext>
            </a:extLst>
          </p:cNvPr>
          <p:cNvSpPr txBox="1"/>
          <p:nvPr/>
        </p:nvSpPr>
        <p:spPr>
          <a:xfrm>
            <a:off x="1856458" y="614774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초안 작성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8FBEC6-9692-D45E-B156-8B34511E1B73}"/>
              </a:ext>
            </a:extLst>
          </p:cNvPr>
          <p:cNvSpPr txBox="1"/>
          <p:nvPr/>
        </p:nvSpPr>
        <p:spPr>
          <a:xfrm>
            <a:off x="6997101" y="6141474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프로젝트 팀 함께 진행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05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 스토리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(User Story)-product backlog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52912-CA43-8A9C-0712-CF7E8FE4431C}"/>
              </a:ext>
            </a:extLst>
          </p:cNvPr>
          <p:cNvSpPr txBox="1"/>
          <p:nvPr/>
        </p:nvSpPr>
        <p:spPr>
          <a:xfrm>
            <a:off x="771524" y="1172260"/>
            <a:ext cx="11087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사용자가 어떤 목적을 가지고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무엇을 할 수 있기를 원하는지를 자연어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일반적인 언어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로 짧게 표현한 문장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902F17-AAF9-5F8F-0526-C842E99D2D7A}"/>
              </a:ext>
            </a:extLst>
          </p:cNvPr>
          <p:cNvPicPr/>
          <p:nvPr/>
        </p:nvPicPr>
        <p:blipFill>
          <a:blip r:embed="rId2"/>
          <a:srcRect l="12031" t="20833" r="13281" b="65972"/>
          <a:stretch/>
        </p:blipFill>
        <p:spPr>
          <a:xfrm>
            <a:off x="838200" y="1818591"/>
            <a:ext cx="9105900" cy="904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427466-06B4-77F3-5581-03DBA47A246B}"/>
              </a:ext>
            </a:extLst>
          </p:cNvPr>
          <p:cNvPicPr/>
          <p:nvPr/>
        </p:nvPicPr>
        <p:blipFill>
          <a:blip r:embed="rId2"/>
          <a:srcRect l="66656" t="44802" r="7528" b="13933"/>
          <a:stretch/>
        </p:blipFill>
        <p:spPr>
          <a:xfrm>
            <a:off x="554354" y="3028950"/>
            <a:ext cx="2522221" cy="25398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5ABF8C5-FBD8-4FCE-D3CC-653B69496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307" y="2738989"/>
            <a:ext cx="8859486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2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작업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(task)-sprint backlog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Task(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태스크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사용자 스토리를 실제로 구현하기 위해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개발팀이 수행해야 하는 구체적인 작업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842658-E5A2-0C28-D5EC-4944DD8E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44" y="1909353"/>
            <a:ext cx="3019846" cy="9240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0556F4E-66CA-121C-F11F-39C4D2725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910" y="1674144"/>
            <a:ext cx="3915321" cy="161947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A1B3C40-9A11-2422-B865-BBE6A4E70C38}"/>
              </a:ext>
            </a:extLst>
          </p:cNvPr>
          <p:cNvSpPr/>
          <p:nvPr/>
        </p:nvSpPr>
        <p:spPr>
          <a:xfrm>
            <a:off x="5353050" y="2127766"/>
            <a:ext cx="30480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73D90E2-AF40-DB07-0B39-5594CA0A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32" y="3943744"/>
            <a:ext cx="5125068" cy="24096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A35CDB5-2C72-04C3-E459-F7BAF117D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3762374"/>
            <a:ext cx="6372848" cy="2772353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501A2B1-89C9-1327-48AE-65DFDE2E7722}"/>
              </a:ext>
            </a:extLst>
          </p:cNvPr>
          <p:cNvSpPr/>
          <p:nvPr/>
        </p:nvSpPr>
        <p:spPr>
          <a:xfrm>
            <a:off x="5353050" y="4963883"/>
            <a:ext cx="30480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11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TDD(Test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Driven Development)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TDD(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테스트 주도 개발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프로그램을 먼저 만드는 것이 아니라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테스트를 먼저 작성한 후 그 테스트를 통과하도록 프로그램을 개발하는 방법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29FF37-0E0C-5D62-8FF6-FE35A0868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30" y="1818591"/>
            <a:ext cx="8694220" cy="4774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Pair</a:t>
            </a:r>
            <a:r>
              <a:rPr kumimoji="0" lang="ko-KR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Programming에</a:t>
            </a:r>
            <a:r>
              <a:rPr kumimoji="0" lang="ko-KR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TDD를</a:t>
            </a:r>
            <a:r>
              <a:rPr kumimoji="0" lang="ko-KR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적용했을 때의 이점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요구사항을 명확하게 전달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AI에게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자연어로만 요구사항을 설명하는 것보다 테스트 코드로 기대하는 동작을 명확하게 제시할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AI의</a:t>
            </a: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잘못된 구현을 조기에 발견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생성한 코드가 테스트를 통과하는지 즉시 확인할 수 있어 잘못된 로직이나 누락된 기능을 빠르게 발견할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AI와</a:t>
            </a: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개발자의 역할을 명확하게 구분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개발자는 무엇이 올바른 동작인지(테스트) 정의하고,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AI는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이를 만족하는 구현 코드를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생성·수정하는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방식으로 협업할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코드 생성의 반복 개선이 쉬움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테스트 실패 → AI 코드 수정 → 테스트 실행 → 재수정의 짧은 반복 사이클을 만들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회귀 오류(</a:t>
            </a:r>
            <a:r>
              <a:rPr kumimoji="0" lang="ko-KR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Regression</a:t>
            </a: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) 방지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기존 코드를 수정하면서 다른 기능을 손상시키는 경우에도 기존 테스트를 통해 빠르게 발견할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기존 코드의 의도를 파악하는 데 도움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테스트 코드가 일종의 실행 가능한 요구사항(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Executable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Specification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) 역할을 하여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기존 기능의 의도를 이해하는 데 도움을 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코드 리뷰 부담 감소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단순히 "코드가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그럴듯한가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?"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검토하는 것에서 벗어나 **정의된 테스트를 만족하는가?**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를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우선적으로 확인할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개발자의 AI 의존에 따른 위험 감소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생성한 코드를 무조건 신뢰하지 않고, 테스트라는 객관적인 검증 수단을 통해 결과를 확인할 수 있음.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변경 요구사항에 대한 대응력 향상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361950" marR="0" lvl="1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요구사항이 변경되면 관련 테스트를 먼저 수정하고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AI에게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구현 변경을 요청할 수 있어 변경 범위를 명확하게 관리할 수 있음.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699A55B-085E-26B5-2616-CC8DB2DCF404}"/>
              </a:ext>
            </a:extLst>
          </p:cNvPr>
          <p:cNvSpPr/>
          <p:nvPr/>
        </p:nvSpPr>
        <p:spPr>
          <a:xfrm>
            <a:off x="8810625" y="2406660"/>
            <a:ext cx="352425" cy="10382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FAF2D7-96CA-5849-41F4-D28EEB46CAC8}"/>
              </a:ext>
            </a:extLst>
          </p:cNvPr>
          <p:cNvSpPr/>
          <p:nvPr/>
        </p:nvSpPr>
        <p:spPr>
          <a:xfrm>
            <a:off x="9477375" y="2186999"/>
            <a:ext cx="2324100" cy="1419225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marL="285750" marR="0" lvl="0" indent="-28575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토큰 소모량 감소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작업량 감소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오류 감소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90000"/>
                  <a:lumOff val="10000"/>
                </a:srgb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일관성 유지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2FD01FF-484E-46EE-FD39-83CF213DC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232"/>
          <a:stretch/>
        </p:blipFill>
        <p:spPr>
          <a:xfrm>
            <a:off x="9072562" y="3734816"/>
            <a:ext cx="1067127" cy="301032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15CA67E-AAB2-955D-14E0-1A5CC444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17" r="1147"/>
          <a:stretch/>
        </p:blipFill>
        <p:spPr>
          <a:xfrm>
            <a:off x="9993167" y="3734816"/>
            <a:ext cx="2040556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0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Github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branch &amp; pull request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Git Branch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하나의 코드 저장소에서 기능 개발이나 수정 작업을 서로 독립적으로 진행할 수 있도록 코드의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작업 공간을 분리하는 기능</a:t>
            </a:r>
          </a:p>
        </p:txBody>
      </p:sp>
      <p:pic>
        <p:nvPicPr>
          <p:cNvPr id="4098" name="Picture 2" descr="깃(Git)] 2. 브랜치(Branch)의 개념 및 흐름 | 6mini.log">
            <a:extLst>
              <a:ext uri="{FF2B5EF4-FFF2-40B4-BE49-F238E27FC236}">
                <a16:creationId xmlns:a16="http://schemas.microsoft.com/office/drawing/2014/main" id="{AB26EB3D-360E-76D7-A255-E940A8EFC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6" y="2176810"/>
            <a:ext cx="4935128" cy="3953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ranch｜asa">
            <a:extLst>
              <a:ext uri="{FF2B5EF4-FFF2-40B4-BE49-F238E27FC236}">
                <a16:creationId xmlns:a16="http://schemas.microsoft.com/office/drawing/2014/main" id="{00563143-2BCC-3171-2AA7-EA0D4BED9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97" y="2176810"/>
            <a:ext cx="5929902" cy="395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rice Tags PNGs for Free Download">
            <a:extLst>
              <a:ext uri="{FF2B5EF4-FFF2-40B4-BE49-F238E27FC236}">
                <a16:creationId xmlns:a16="http://schemas.microsoft.com/office/drawing/2014/main" id="{C1D5019D-536C-C8C7-EA38-F8C02D19F7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71" t="17429" r="7571" b="10286"/>
          <a:stretch/>
        </p:blipFill>
        <p:spPr bwMode="auto">
          <a:xfrm rot="18617282">
            <a:off x="2796523" y="4328632"/>
            <a:ext cx="758737" cy="64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547AF7-BE02-9560-3421-F1D0CAC8AF9A}"/>
              </a:ext>
            </a:extLst>
          </p:cNvPr>
          <p:cNvSpPr txBox="1"/>
          <p:nvPr/>
        </p:nvSpPr>
        <p:spPr>
          <a:xfrm>
            <a:off x="2992348" y="6150821"/>
            <a:ext cx="7419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6"/>
              </a:rPr>
              <a:t>https://mylko72.gitbooks.io/git/content/branch/branch.html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B7F801-584B-266A-562F-8C607574CEFE}"/>
              </a:ext>
            </a:extLst>
          </p:cNvPr>
          <p:cNvSpPr/>
          <p:nvPr/>
        </p:nvSpPr>
        <p:spPr>
          <a:xfrm>
            <a:off x="617947" y="3429000"/>
            <a:ext cx="1066800" cy="12954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Trunk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/main branch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/master branch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2A84BB1-F109-2A21-5975-3AA834FF2771}"/>
              </a:ext>
            </a:extLst>
          </p:cNvPr>
          <p:cNvSpPr/>
          <p:nvPr/>
        </p:nvSpPr>
        <p:spPr>
          <a:xfrm>
            <a:off x="2458948" y="3244334"/>
            <a:ext cx="1066800" cy="36933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branch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2ED704E-AFBD-F344-2BAA-0B62AF1FB443}"/>
              </a:ext>
            </a:extLst>
          </p:cNvPr>
          <p:cNvSpPr/>
          <p:nvPr/>
        </p:nvSpPr>
        <p:spPr>
          <a:xfrm>
            <a:off x="2297023" y="5083297"/>
            <a:ext cx="1066800" cy="36933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tag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7CE56-140B-6959-5678-E7AFFE5E17A0}"/>
              </a:ext>
            </a:extLst>
          </p:cNvPr>
          <p:cNvSpPr txBox="1"/>
          <p:nvPr/>
        </p:nvSpPr>
        <p:spPr>
          <a:xfrm>
            <a:off x="3648076" y="6485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Cloud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GitHub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PR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까지 연결하기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  <a:hlinkClick r:id="rId7"/>
              </a:rPr>
              <a:t>- TILNOTE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70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Github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branch 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명령어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Git Branch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하나의 코드 저장소에서 기능 개발이나 수정 작업을 서로 독립적으로 진행할 수 있도록 코드의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작업 공간을 분리하는 기능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FAA9F20-3A84-B7DF-5CE0-2EF8E1A912A8}"/>
              </a:ext>
            </a:extLst>
          </p:cNvPr>
          <p:cNvSpPr txBox="1">
            <a:spLocks/>
          </p:cNvSpPr>
          <p:nvPr/>
        </p:nvSpPr>
        <p:spPr>
          <a:xfrm>
            <a:off x="950836" y="1947862"/>
            <a:ext cx="4970988" cy="49101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/>
              <a:t>Local branch </a:t>
            </a:r>
            <a:r>
              <a:rPr lang="ko-KR" altLang="en-US" sz="1800"/>
              <a:t>정보 조회</a:t>
            </a:r>
            <a:r>
              <a:rPr lang="en-US" altLang="ko-KR" sz="1800"/>
              <a:t>(L </a:t>
            </a:r>
            <a:r>
              <a:rPr lang="ko-KR" altLang="en-US" sz="1800"/>
              <a:t>옵션 생략 가능</a:t>
            </a:r>
            <a:r>
              <a:rPr lang="en-US" altLang="ko-KR" sz="1800"/>
              <a:t>)</a:t>
            </a:r>
            <a:br>
              <a:rPr lang="en-US" altLang="ko-KR" sz="1800"/>
            </a:br>
            <a:r>
              <a:rPr lang="en-US" altLang="ko-KR" sz="1800"/>
              <a:t>$ </a:t>
            </a:r>
            <a:r>
              <a:rPr lang="en-US" altLang="ko-KR" sz="1800">
                <a:solidFill>
                  <a:srgbClr val="0070C0"/>
                </a:solidFill>
              </a:rPr>
              <a:t>git branch -l</a:t>
            </a:r>
          </a:p>
          <a:p>
            <a:r>
              <a:rPr lang="en-US" altLang="ko-KR" sz="1800"/>
              <a:t>Local</a:t>
            </a:r>
            <a:r>
              <a:rPr lang="ko-KR" altLang="en-US" sz="1800"/>
              <a:t> </a:t>
            </a:r>
            <a:r>
              <a:rPr lang="en-US" altLang="ko-KR" sz="1800"/>
              <a:t>branch</a:t>
            </a:r>
            <a:r>
              <a:rPr lang="ko-KR" altLang="en-US" sz="1800"/>
              <a:t>의 정보를 마지막 커밋 내역과 함께 조회</a:t>
            </a:r>
            <a:br>
              <a:rPr lang="en-US" altLang="ko-KR" sz="1800"/>
            </a:br>
            <a:r>
              <a:rPr lang="en-US" altLang="ko-KR" sz="1800"/>
              <a:t>$ </a:t>
            </a:r>
            <a:r>
              <a:rPr lang="en-US" altLang="ko-KR" sz="1800">
                <a:solidFill>
                  <a:srgbClr val="0070C0"/>
                </a:solidFill>
              </a:rPr>
              <a:t>git branch -v</a:t>
            </a:r>
          </a:p>
          <a:p>
            <a:r>
              <a:rPr lang="en-US" altLang="ko-KR" sz="1800"/>
              <a:t>Remote </a:t>
            </a:r>
            <a:r>
              <a:rPr lang="ko-KR" altLang="en-US" sz="1800"/>
              <a:t>저장소의 </a:t>
            </a:r>
            <a:r>
              <a:rPr lang="en-US" altLang="ko-KR" sz="1800"/>
              <a:t>branch</a:t>
            </a:r>
            <a:r>
              <a:rPr lang="ko-KR" altLang="en-US" sz="1800"/>
              <a:t> 정보 조회</a:t>
            </a:r>
            <a:br>
              <a:rPr lang="en-US" altLang="ko-KR" sz="1800"/>
            </a:br>
            <a:r>
              <a:rPr lang="en-US" altLang="ko-KR" sz="1800"/>
              <a:t>$ </a:t>
            </a:r>
            <a:r>
              <a:rPr lang="en-US" altLang="ko-KR" sz="1800">
                <a:solidFill>
                  <a:srgbClr val="0070C0"/>
                </a:solidFill>
              </a:rPr>
              <a:t>git branch -r</a:t>
            </a:r>
          </a:p>
          <a:p>
            <a:r>
              <a:rPr lang="en-US" altLang="ko-KR" sz="1800"/>
              <a:t>Local </a:t>
            </a:r>
            <a:r>
              <a:rPr lang="ko-KR" altLang="en-US" sz="1800"/>
              <a:t>및 </a:t>
            </a:r>
            <a:r>
              <a:rPr lang="en-US" altLang="ko-KR" sz="1800"/>
              <a:t>remote </a:t>
            </a:r>
            <a:r>
              <a:rPr lang="ko-KR" altLang="en-US" sz="1800"/>
              <a:t>저장소의 모든 </a:t>
            </a:r>
            <a:r>
              <a:rPr lang="en-US" altLang="ko-KR" sz="1800"/>
              <a:t>branch </a:t>
            </a:r>
            <a:r>
              <a:rPr lang="ko-KR" altLang="en-US" sz="1800"/>
              <a:t>정보 조회</a:t>
            </a:r>
            <a:br>
              <a:rPr lang="en-US" altLang="ko-KR" sz="1800"/>
            </a:br>
            <a:r>
              <a:rPr lang="en-US" altLang="ko-KR" sz="1800"/>
              <a:t>$ </a:t>
            </a:r>
            <a:r>
              <a:rPr lang="en-US" altLang="ko-KR" sz="1800">
                <a:solidFill>
                  <a:srgbClr val="0070C0"/>
                </a:solidFill>
              </a:rPr>
              <a:t>git branch -a</a:t>
            </a:r>
          </a:p>
          <a:p>
            <a:r>
              <a:rPr lang="ko-KR" altLang="en-US" sz="1800"/>
              <a:t>옵션 이름을 갖는 새로운 </a:t>
            </a:r>
            <a:r>
              <a:rPr lang="en-US" altLang="ko-KR" sz="1800"/>
              <a:t>branch </a:t>
            </a:r>
            <a:r>
              <a:rPr lang="ko-KR" altLang="en-US" sz="1800"/>
              <a:t>생성</a:t>
            </a:r>
            <a:br>
              <a:rPr lang="en-US" altLang="ko-KR" sz="1800"/>
            </a:br>
            <a:r>
              <a:rPr lang="en-US" altLang="ko-KR" sz="1800"/>
              <a:t>$ </a:t>
            </a:r>
            <a:r>
              <a:rPr lang="en-US" altLang="ko-KR" sz="1800">
                <a:solidFill>
                  <a:srgbClr val="0070C0"/>
                </a:solidFill>
              </a:rPr>
              <a:t>git branch</a:t>
            </a:r>
            <a:r>
              <a:rPr lang="en-US" altLang="ko-KR" sz="1800"/>
              <a:t> </a:t>
            </a:r>
            <a:r>
              <a:rPr lang="en-US" altLang="ko-KR" sz="1800" i="1"/>
              <a:t>branch name</a:t>
            </a:r>
            <a:endParaRPr lang="en-US" altLang="ko-KR" sz="1800" i="1"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AA8DBA62-E2F0-E672-2555-3BF21B01266F}"/>
              </a:ext>
            </a:extLst>
          </p:cNvPr>
          <p:cNvSpPr txBox="1">
            <a:spLocks/>
          </p:cNvSpPr>
          <p:nvPr/>
        </p:nvSpPr>
        <p:spPr>
          <a:xfrm>
            <a:off x="5921824" y="1947862"/>
            <a:ext cx="4970988" cy="49101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Branch </a:t>
            </a:r>
            <a:r>
              <a:rPr lang="ko-KR" altLang="en-US" sz="2800" dirty="0"/>
              <a:t>생성과 함께 해당 </a:t>
            </a:r>
            <a:r>
              <a:rPr lang="en-US" altLang="ko-KR" sz="2800" dirty="0"/>
              <a:t>branch</a:t>
            </a:r>
            <a:r>
              <a:rPr lang="ko-KR" altLang="en-US" sz="2800" dirty="0"/>
              <a:t>로 이동</a:t>
            </a:r>
            <a:br>
              <a:rPr lang="en-US" altLang="ko-KR" sz="2800" dirty="0"/>
            </a:br>
            <a:r>
              <a:rPr lang="en-US" altLang="ko-KR" sz="2800" dirty="0"/>
              <a:t>$ </a:t>
            </a:r>
            <a:r>
              <a:rPr lang="en-US" altLang="ko-KR" sz="2800" dirty="0">
                <a:solidFill>
                  <a:srgbClr val="0070C0"/>
                </a:solidFill>
              </a:rPr>
              <a:t>git checkout -b</a:t>
            </a:r>
            <a:r>
              <a:rPr lang="en-US" altLang="ko-KR" sz="2800" dirty="0"/>
              <a:t> </a:t>
            </a:r>
            <a:r>
              <a:rPr lang="en-US" altLang="ko-KR" sz="2800" i="1" dirty="0"/>
              <a:t>branch name</a:t>
            </a:r>
          </a:p>
          <a:p>
            <a:r>
              <a:rPr lang="ko-KR" altLang="en-US" dirty="0"/>
              <a:t>작업 </a:t>
            </a:r>
            <a:r>
              <a:rPr lang="en-US" altLang="ko-KR" dirty="0"/>
              <a:t>Branch </a:t>
            </a:r>
            <a:r>
              <a:rPr lang="ko-KR" altLang="en-US" dirty="0"/>
              <a:t>변경</a:t>
            </a:r>
            <a:br>
              <a:rPr lang="en-US" altLang="ko-KR" dirty="0"/>
            </a:br>
            <a:r>
              <a:rPr lang="en-US" altLang="ko-KR" dirty="0"/>
              <a:t>$ </a:t>
            </a:r>
            <a:r>
              <a:rPr lang="en-US" altLang="ko-KR" dirty="0">
                <a:solidFill>
                  <a:srgbClr val="0070C0"/>
                </a:solidFill>
              </a:rPr>
              <a:t>git checkout</a:t>
            </a:r>
            <a:r>
              <a:rPr lang="en-US" altLang="ko-KR" dirty="0"/>
              <a:t> </a:t>
            </a:r>
            <a:r>
              <a:rPr lang="en-US" altLang="ko-KR" i="1" dirty="0"/>
              <a:t>branch name</a:t>
            </a:r>
          </a:p>
          <a:p>
            <a:r>
              <a:rPr lang="en-US" altLang="ko-KR" dirty="0"/>
              <a:t>Branch </a:t>
            </a:r>
            <a:r>
              <a:rPr lang="ko-KR" altLang="en-US" dirty="0"/>
              <a:t>삭제</a:t>
            </a:r>
            <a:br>
              <a:rPr lang="en-US" altLang="ko-KR" dirty="0"/>
            </a:br>
            <a:r>
              <a:rPr lang="en-US" altLang="ko-KR" dirty="0"/>
              <a:t>$ </a:t>
            </a:r>
            <a:r>
              <a:rPr lang="en-US" altLang="ko-KR" dirty="0">
                <a:solidFill>
                  <a:srgbClr val="0070C0"/>
                </a:solidFill>
              </a:rPr>
              <a:t>git branch -d</a:t>
            </a:r>
            <a:r>
              <a:rPr lang="en-US" altLang="ko-KR" dirty="0"/>
              <a:t> </a:t>
            </a:r>
            <a:r>
              <a:rPr lang="en-US" altLang="ko-KR" i="1" dirty="0"/>
              <a:t>branch name</a:t>
            </a:r>
          </a:p>
          <a:p>
            <a:r>
              <a:rPr lang="en-US" altLang="ko-KR" dirty="0"/>
              <a:t>Branch </a:t>
            </a:r>
            <a:r>
              <a:rPr lang="ko-KR" altLang="en-US" dirty="0"/>
              <a:t>이름 변경</a:t>
            </a:r>
            <a:br>
              <a:rPr lang="en-US" altLang="ko-KR" dirty="0"/>
            </a:br>
            <a:r>
              <a:rPr lang="en-US" altLang="ko-KR" dirty="0"/>
              <a:t>$ </a:t>
            </a:r>
            <a:r>
              <a:rPr lang="en-US" altLang="ko-KR" dirty="0">
                <a:solidFill>
                  <a:srgbClr val="0070C0"/>
                </a:solidFill>
              </a:rPr>
              <a:t>git branch -m</a:t>
            </a:r>
            <a:r>
              <a:rPr lang="en-US" altLang="ko-KR" dirty="0"/>
              <a:t> </a:t>
            </a:r>
            <a:r>
              <a:rPr lang="ko-KR" altLang="en-US" i="1" dirty="0"/>
              <a:t>변경할 이름 변경될 이름</a:t>
            </a:r>
            <a:br>
              <a:rPr lang="en-US" altLang="ko-KR" i="1" dirty="0"/>
            </a:br>
            <a:r>
              <a:rPr lang="en-US" altLang="ko-KR" sz="2400" i="1" dirty="0"/>
              <a:t>※ </a:t>
            </a:r>
            <a:r>
              <a:rPr lang="ko-KR" altLang="en-US" sz="2400" dirty="0"/>
              <a:t>동일 이름이 있더라도 덮어씀</a:t>
            </a:r>
            <a:endParaRPr lang="en-US" altLang="ko-KR" sz="2400" i="1" dirty="0"/>
          </a:p>
          <a:p>
            <a:r>
              <a:rPr lang="en-US" altLang="ko-KR" dirty="0"/>
              <a:t>Merge</a:t>
            </a:r>
            <a:r>
              <a:rPr lang="ko-KR" altLang="en-US" dirty="0"/>
              <a:t>된 </a:t>
            </a:r>
            <a:r>
              <a:rPr lang="en-US" altLang="ko-KR" dirty="0"/>
              <a:t>branch </a:t>
            </a:r>
            <a:r>
              <a:rPr lang="ko-KR" altLang="en-US" dirty="0"/>
              <a:t>목록 조회</a:t>
            </a:r>
            <a:br>
              <a:rPr lang="en-US" altLang="ko-KR" dirty="0"/>
            </a:br>
            <a:r>
              <a:rPr lang="en-US" altLang="ko-KR" dirty="0"/>
              <a:t>$ </a:t>
            </a:r>
            <a:r>
              <a:rPr lang="en-US" altLang="ko-KR" dirty="0">
                <a:solidFill>
                  <a:srgbClr val="0070C0"/>
                </a:solidFill>
              </a:rPr>
              <a:t>git branch --merged</a:t>
            </a:r>
          </a:p>
          <a:p>
            <a:r>
              <a:rPr lang="en-US" altLang="ko-KR" dirty="0"/>
              <a:t>Merge</a:t>
            </a:r>
            <a:r>
              <a:rPr lang="ko-KR" altLang="en-US" dirty="0"/>
              <a:t>되지 않은 </a:t>
            </a:r>
            <a:r>
              <a:rPr lang="en-US" altLang="ko-KR" dirty="0"/>
              <a:t>branch </a:t>
            </a:r>
            <a:r>
              <a:rPr lang="ko-KR" altLang="en-US" dirty="0"/>
              <a:t>목록 조회</a:t>
            </a:r>
            <a:br>
              <a:rPr lang="en-US" altLang="ko-KR" dirty="0"/>
            </a:br>
            <a:r>
              <a:rPr lang="en-US" altLang="ko-KR" dirty="0"/>
              <a:t>$ </a:t>
            </a:r>
            <a:r>
              <a:rPr lang="en-US" altLang="ko-KR" dirty="0">
                <a:solidFill>
                  <a:srgbClr val="0070C0"/>
                </a:solidFill>
              </a:rPr>
              <a:t>git branch --no-merged</a:t>
            </a:r>
          </a:p>
        </p:txBody>
      </p:sp>
    </p:spTree>
    <p:extLst>
      <p:ext uri="{BB962C8B-B14F-4D97-AF65-F5344CB8AC3E}">
        <p14:creationId xmlns:p14="http://schemas.microsoft.com/office/powerpoint/2010/main" val="3557840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 conflict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Git Conflict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여러 개발자가 같은 코드 부분을 서로 다르게 수정한 상태에서 변경사항을 병합할 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Git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어떤 변경사항을 적용해야 할지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자동으로 결정하지 못해 발생하는 충돌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378FC5-C541-7E54-3548-9320C5B84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02" y="2010464"/>
            <a:ext cx="5399147" cy="432085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F87AA5D9-2667-7137-D2A4-280F44294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63" y="1897065"/>
            <a:ext cx="5100639" cy="2273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충돌 발생 파일 확인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충돌 내용 확인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적용할 코드 결정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충돌 표시 제거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변경사항 테스트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충돌 해결 완료 처리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핵심: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맑은 고딕" panose="020B0503020000020004" pitchFamily="50" charset="-127"/>
                <a:cs typeface="+mn-cs"/>
              </a:rPr>
              <a:t>충돌 확인 → 변경사항 비교 → 코드 수정 → 테스트 →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맑은 고딕" panose="020B0503020000020004" pitchFamily="50" charset="-127"/>
                <a:cs typeface="+mn-cs"/>
              </a:rPr>
              <a:t>Merge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/>
                <a:ea typeface="맑은 고딕" panose="020B0503020000020004" pitchFamily="50" charset="-127"/>
                <a:cs typeface="+mn-cs"/>
              </a:rPr>
              <a:t> 완료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순서로 해결합니다.</a:t>
            </a:r>
            <a:endParaRPr kumimoji="0" lang="ko-KR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0261D3-ECBC-B589-E7B8-AC28DAC5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4" y="4284292"/>
            <a:ext cx="4781551" cy="190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1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Github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branch &amp; pull request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main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Branch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결과물의 무결성을 확보하기 위해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최종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승인된 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작업 결과만 </a:t>
            </a: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pull </a:t>
            </a:r>
            <a:r>
              <a:rPr lang="en-US" altLang="ko-KR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reques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를 통해 병합</a:t>
            </a: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F2150F8-62AB-00A5-6F68-F085C2C30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3" y="2038864"/>
            <a:ext cx="8001800" cy="34485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0ED8A-290C-05D2-FB36-9EC8A0D5B1B0}"/>
              </a:ext>
            </a:extLst>
          </p:cNvPr>
          <p:cNvSpPr/>
          <p:nvPr/>
        </p:nvSpPr>
        <p:spPr>
          <a:xfrm>
            <a:off x="242607" y="2897107"/>
            <a:ext cx="8136000" cy="16853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644A3AC-E405-ADE0-380F-AEF1F487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476" y="2069346"/>
            <a:ext cx="3135911" cy="81698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00B628-5934-9032-8022-3CC6769B8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476" y="2990786"/>
            <a:ext cx="3131972" cy="26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3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722"/>
            <a:ext cx="10515600" cy="756665"/>
          </a:xfrm>
        </p:spPr>
        <p:txBody>
          <a:bodyPr/>
          <a:lstStyle/>
          <a:p>
            <a:r>
              <a:rPr lang="en-US" altLang="ko-KR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Github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branch &amp; pull request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4" y="1172260"/>
            <a:ext cx="10372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main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Branch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결과물의 무결성을 확보하기 위해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최종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승인된 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작업 결과만 </a:t>
            </a: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pull request</a:t>
            </a:r>
            <a:r>
              <a:rPr lang="ko-KR" altLang="en-US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를 통해 병합</a:t>
            </a: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40FF5A4-77C8-BAD4-6815-F35A371C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4" y="2010463"/>
            <a:ext cx="3836505" cy="41213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92DE9E-DBFD-9B12-8CB9-23C45952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400" y="2010462"/>
            <a:ext cx="5195035" cy="32859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520C94-2837-C60F-A550-04BFD0E64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400" y="5379040"/>
            <a:ext cx="5347435" cy="11021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FE7C09-C30C-E21D-ECA0-E0977A95F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885" y="4034287"/>
            <a:ext cx="3165841" cy="2606893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12610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A6302-F43F-FE12-B06D-31C96BFC4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223722"/>
            <a:ext cx="10515600" cy="756665"/>
          </a:xfrm>
        </p:spPr>
        <p:txBody>
          <a:bodyPr/>
          <a:lstStyle/>
          <a:p>
            <a:r>
              <a:rPr lang="en-US" altLang="ko-KR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Github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actions</a:t>
            </a:r>
            <a:endParaRPr lang="ko-KR" altLang="en-US" dirty="0">
              <a:solidFill>
                <a:schemeClr val="tx2">
                  <a:lumMod val="90000"/>
                  <a:lumOff val="1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6945-6AEF-1F34-138C-2A9BEBAB8C59}"/>
              </a:ext>
            </a:extLst>
          </p:cNvPr>
          <p:cNvSpPr txBox="1"/>
          <p:nvPr/>
        </p:nvSpPr>
        <p:spPr>
          <a:xfrm>
            <a:off x="771525" y="1172260"/>
            <a:ext cx="37242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GitHub Actions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GitHub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에 저장된 소프트웨어의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빌드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테스트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배포 등의 작업을 자동으로 실행해주는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CI/CD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자동화 기능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CI: Continuous Integration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CD: Continuous Deploy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9FF1729-B50A-FB27-C8CE-3EC1157E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8"/>
          <a:stretch/>
        </p:blipFill>
        <p:spPr>
          <a:xfrm>
            <a:off x="4610783" y="266700"/>
            <a:ext cx="7504334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2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B01744A-C28B-50EA-0BEB-16E73C97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74678F-A8B7-5607-6DF0-91BC1A2578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91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89F99E1-BEBB-9BE1-1A31-98054C29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59E1DE-3542-A719-721D-5BFC80E9FA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MLOps vs. AIOps: A 2026 Guide for IT Decision-Makers | MLflow">
            <a:extLst>
              <a:ext uri="{FF2B5EF4-FFF2-40B4-BE49-F238E27FC236}">
                <a16:creationId xmlns:a16="http://schemas.microsoft.com/office/drawing/2014/main" id="{3E77EDC0-411B-1060-833B-613AC806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493" y="904874"/>
            <a:ext cx="8101013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8414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723</Words>
  <Application>Microsoft Office PowerPoint</Application>
  <PresentationFormat>와이드스크린</PresentationFormat>
  <Paragraphs>77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Arial Unicode MS</vt:lpstr>
      <vt:lpstr>Pretendard</vt:lpstr>
      <vt:lpstr>Pretendard ExtraBold</vt:lpstr>
      <vt:lpstr>맑은 고딕</vt:lpstr>
      <vt:lpstr>Arial</vt:lpstr>
      <vt:lpstr>1_Office Theme</vt:lpstr>
      <vt:lpstr>1_Office 테마</vt:lpstr>
      <vt:lpstr>PowerPoint 프레젠테이션</vt:lpstr>
      <vt:lpstr>프로젝트는 프로젝트 목적을 점진적 상세화하는 과정</vt:lpstr>
      <vt:lpstr>AI를 이용한 No-Code 개발</vt:lpstr>
      <vt:lpstr>프로젝트는 다양한 프로세스들로 구성</vt:lpstr>
      <vt:lpstr>PowerPoint 프레젠테이션</vt:lpstr>
      <vt:lpstr>사용자 스토리(User Story)-product backlog</vt:lpstr>
      <vt:lpstr>작업(task)-sprint backlog</vt:lpstr>
      <vt:lpstr>TDD(Test Driven Development)</vt:lpstr>
      <vt:lpstr>Github branch &amp; pull request</vt:lpstr>
      <vt:lpstr>Github branch 명령어</vt:lpstr>
      <vt:lpstr>Git conflict</vt:lpstr>
      <vt:lpstr>Github branch &amp; pull request</vt:lpstr>
      <vt:lpstr>Github branch &amp; pull request</vt:lpstr>
      <vt:lpstr>Github actions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승현 김</dc:creator>
  <cp:lastModifiedBy>승현 김</cp:lastModifiedBy>
  <cp:revision>4</cp:revision>
  <dcterms:created xsi:type="dcterms:W3CDTF">2026-10-06T06:08:45Z</dcterms:created>
  <dcterms:modified xsi:type="dcterms:W3CDTF">2026-10-07T06:46:42Z</dcterms:modified>
</cp:coreProperties>
</file>
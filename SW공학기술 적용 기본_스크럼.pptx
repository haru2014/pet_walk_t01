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361" r:id="rId98"/>
    <p:sldId id="362" r:id="rId99"/>
    <p:sldId id="363" r:id="rId100"/>
    <p:sldId id="364" r:id="rId101"/>
    <p:sldId id="365" r:id="rId102"/>
    <p:sldId id="366" r:id="rId103"/>
    <p:sldId id="367" r:id="rId104"/>
    <p:sldId id="368" r:id="rId105"/>
    <p:sldId id="369" r:id="rId106"/>
    <p:sldId id="370" r:id="rId107"/>
    <p:sldId id="371" r:id="rId108"/>
    <p:sldId id="372" r:id="rId109"/>
    <p:sldId id="373" r:id="rId110"/>
    <p:sldId id="374" r:id="rId111"/>
    <p:sldId id="375" r:id="rId1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7C074-69B8-69B1-C377-35B2ED18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121F51-A109-4C38-0F55-A43BC62B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FE8A-F94A-4294-AA0A-EF9896CB8DA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2888FC-8981-5D59-DC80-00E97A7D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B3B45-9EA3-9820-E2F5-82B463C2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7F5E-9152-49B9-9597-DA7F711B2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81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7B112D-0BC3-D58A-1C89-A4997AEA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A5C05A-5688-D1E2-3177-DA8FD1F3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E1416-5CAD-9B5F-F1D0-741A78601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FFE8A-F94A-4294-AA0A-EF9896CB8DA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6455D-60EC-0B6B-9B5E-B15AF115D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EF9F3B-5CAA-3B11-95A8-07EC01DA5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77F5E-9152-49B9-9597-DA7F711B2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3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5F69210-D6E6-E877-61FF-6F542255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chemeClr val="bg1"/>
                </a:solidFill>
              </a:rPr>
              <a:t>애자일</a:t>
            </a:r>
            <a:r>
              <a:rPr lang="en-US" altLang="ko-KR">
                <a:solidFill>
                  <a:schemeClr val="bg1"/>
                </a:solidFill>
              </a:rPr>
              <a:t>(</a:t>
            </a:r>
            <a:r>
              <a:rPr lang="ko-KR" altLang="en-US">
                <a:solidFill>
                  <a:schemeClr val="bg1"/>
                </a:solidFill>
              </a:rPr>
              <a:t>스크럼</a:t>
            </a:r>
            <a:r>
              <a:rPr lang="en-US" altLang="ko-KR">
                <a:solidFill>
                  <a:schemeClr val="bg1"/>
                </a:solidFill>
              </a:rPr>
              <a:t>) </a:t>
            </a:r>
            <a:r>
              <a:rPr lang="ko-KR" altLang="en-US">
                <a:solidFill>
                  <a:schemeClr val="bg1"/>
                </a:solidFill>
              </a:rPr>
              <a:t>방법론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BF306E-C81C-0EBB-D9A9-2AE5282A99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4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B0FFCE4-1A9D-A82E-04C9-CB4B5F95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B3F97A9-6803-1962-66BB-C437D11BA2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35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C0ECB66-A89F-7F04-81AF-4D92199D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과정명</a:t>
            </a:r>
            <a:r>
              <a:rPr lang="en-US" altLang="ko-KR"/>
              <a:t>: </a:t>
            </a:r>
            <a:r>
              <a:rPr lang="ko-KR" altLang="en-US"/>
              <a:t>애자일</a:t>
            </a:r>
            <a:r>
              <a:rPr lang="en-US" altLang="ko-KR"/>
              <a:t>(</a:t>
            </a:r>
            <a:r>
              <a:rPr lang="ko-KR" altLang="en-US"/>
              <a:t>스크럼</a:t>
            </a:r>
            <a:r>
              <a:rPr lang="en-US" altLang="ko-KR"/>
              <a:t>) </a:t>
            </a:r>
            <a:r>
              <a:rPr lang="ko-KR" altLang="en-US"/>
              <a:t>방법론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4F8890-C87A-EEA1-BF88-4E5A408A32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5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80E7763-1BC0-E13C-2665-9B8E24B7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과정 목표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255613-49B1-5B32-3BC0-0FFB30C870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8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9D00908-224E-6063-DEF6-D094B362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SWEBOK 3.0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706567-5A3A-D0D8-3D9A-6454513A7F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7B3A9F4-8AB5-6037-5009-60502E00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10CF20-D6EE-0DE3-5103-AE90F16F1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E561946-B5BA-9692-AE9B-4F459B86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개발</a:t>
            </a:r>
            <a:r>
              <a:rPr lang="en-US" altLang="ko-KR"/>
              <a:t>?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60ACC1-F7EA-9AD3-263D-A5C879C4A2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0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46F07D5-D43B-8F77-1F62-9DB41A1E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Methodology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26D24F-D1EC-B7BE-D854-9866A4ECBF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0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C31E23C-C4DB-157C-CE72-E7ECD502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Development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F4173F-6337-3344-6C41-58F104574C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EBDB377-24EE-5E05-5DD1-029B95D0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Development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902E37-BD8B-1363-9508-AA6778E344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3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B38B806-33D7-D83D-BBFC-765C6543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전통적인 방법론</a:t>
            </a:r>
            <a:r>
              <a:rPr lang="en-US" altLang="ko-KR"/>
              <a:t>(Waterfall) </a:t>
            </a:r>
            <a:r>
              <a:rPr lang="ko-KR" altLang="en-US"/>
              <a:t>과의 차이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3AF5E4-26E0-1FDE-5230-03F11AA4B1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8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718E724-68E5-6634-7B9E-C04C0454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전통적 방법론과 애자일 방법론의 장단점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272492-B14C-8951-9685-63277A31CA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2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ACCAC50-F1F6-E41E-B73A-07C91C49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애자일 적용 적합 평가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07A3BD-37A1-50EA-866C-9A10678D6F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3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6CB2715-FA6C-3725-612D-AC62A424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manifesto(</a:t>
            </a:r>
            <a:r>
              <a:rPr lang="ko-KR" altLang="en-US"/>
              <a:t>애자일 선언</a:t>
            </a:r>
            <a:r>
              <a:rPr lang="en-US" altLang="ko-KR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0F6BF9-D076-584D-F975-6CF7DFBC4C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40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740BCDE-F7FD-868E-7D8C-6244A023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Fail Fast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74180A-4918-DD80-8055-4713CD758D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6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D901603-57B1-62F9-4983-EE8DB1C6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원칙</a:t>
            </a:r>
            <a:r>
              <a:rPr lang="en-US" altLang="ko-KR"/>
              <a:t>(1/2)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039FA3-8A39-BC9E-5A99-968D861220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9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D5DA45E-018A-5235-60A6-736724A9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원칙</a:t>
            </a:r>
            <a:r>
              <a:rPr lang="en-US" altLang="ko-KR"/>
              <a:t>(2/2)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4862E8-5538-B623-55CB-9C58D3725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16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F3FCF61-A45C-921C-86AD-984BB545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종류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01E5BB-FAF0-032F-081C-9127D39CD4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93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9B4015C-C534-ECAC-C9C1-3B7F41CD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익스트림 프로그래밍</a:t>
            </a:r>
            <a:r>
              <a:rPr lang="en-US" altLang="ko-KR"/>
              <a:t>(e</a:t>
            </a:r>
            <a:r>
              <a:rPr lang="en-US" altLang="ko-KR">
                <a:solidFill>
                  <a:schemeClr val="accent1"/>
                </a:solidFill>
              </a:rPr>
              <a:t>X</a:t>
            </a:r>
            <a:r>
              <a:rPr lang="en-US" altLang="ko-KR"/>
              <a:t>treme </a:t>
            </a:r>
            <a:r>
              <a:rPr lang="en-US" altLang="ko-KR">
                <a:solidFill>
                  <a:schemeClr val="accent1"/>
                </a:solidFill>
              </a:rPr>
              <a:t>P</a:t>
            </a:r>
            <a:r>
              <a:rPr lang="en-US" altLang="ko-KR"/>
              <a:t>rogramming)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E784DB-6284-3BC9-F27E-ED371E31E8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07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7193190-0324-10D3-F3D5-5D6E07C4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린</a:t>
            </a:r>
            <a:r>
              <a:rPr lang="en-US" altLang="ko-KR"/>
              <a:t>(Lean) SW </a:t>
            </a:r>
            <a:r>
              <a:rPr lang="ko-KR" altLang="en-US"/>
              <a:t>개발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1BFAFB-856D-AC8E-00B1-BBDC2D1AA5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2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5B69C17-EC28-9706-FCF4-66075A31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린</a:t>
            </a:r>
            <a:r>
              <a:rPr lang="en-US" altLang="ko-KR"/>
              <a:t>(Lean)</a:t>
            </a:r>
            <a:r>
              <a:rPr lang="ko-KR" altLang="en-US"/>
              <a:t>과 </a:t>
            </a:r>
            <a:r>
              <a:rPr lang="en-US" altLang="ko-KR"/>
              <a:t>XP</a:t>
            </a:r>
            <a:r>
              <a:rPr lang="ko-KR" altLang="en-US"/>
              <a:t>와 스크럼 공통점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5B2E7F-4107-8469-0177-587688AC8D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10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7BEF1E9-BACF-575B-E409-FB64AEC1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Respect!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54154F-5A77-1637-AE9F-D218106002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5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3183C2F-62DA-3746-AE9B-F0023756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칸반</a:t>
            </a:r>
            <a:r>
              <a:rPr lang="en-US" altLang="ko-KR"/>
              <a:t>(Kanban, </a:t>
            </a:r>
            <a:r>
              <a:rPr lang="ko-KR" altLang="en-US"/>
              <a:t>看板</a:t>
            </a:r>
            <a:r>
              <a:rPr lang="en-US" altLang="ko-KR"/>
              <a:t>)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2B1FC7-BA06-BD26-EDED-CA44D77E4C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34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AF8EBE0-BCAE-6696-7429-3751EBB4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Google</a:t>
            </a:r>
            <a:r>
              <a:rPr lang="ko-KR" altLang="en-US"/>
              <a:t> </a:t>
            </a:r>
            <a:r>
              <a:rPr lang="en-US" altLang="ko-KR"/>
              <a:t>trend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882B80-9497-C4D4-CF09-7E4F03E2CC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66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6A0B718-09F6-0D1A-DDAA-446F76AE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Approaches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7EE45B-831A-D11B-CF62-F0EE2DDE73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17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905CA9C-9C09-5DD9-D5FE-C89A573B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도입 기업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D8233D-AA9C-F010-EE93-F87452C36A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73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A7F0AF6-2DFA-EEF8-9F8A-B47E755E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agile </a:t>
            </a:r>
            <a:r>
              <a:rPr lang="ko-KR" altLang="en-US"/>
              <a:t>도입 효과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C7A479-A2E9-E539-9F2D-12226FA369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66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45E14C6-0DD0-2675-72EB-AF0868D2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Methodology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518D30-332C-5D47-5CBF-1D3406983A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72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8745078-816E-362D-E1A5-BD3F9D79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특성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6D65B9-FF23-9FBF-E484-D59EC89359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597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74D31A5-3C28-EE62-E5C9-DD0D82D1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중점 가치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286B3C-BD8D-85DB-3582-740D5FF86D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6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1B4720A-087B-26D2-101C-D1A05EFE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적용 기관</a:t>
            </a:r>
            <a:r>
              <a:rPr lang="en-US" altLang="ko-KR"/>
              <a:t>/</a:t>
            </a:r>
            <a:r>
              <a:rPr lang="ko-KR" altLang="en-US"/>
              <a:t>분야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D06E1F-3FD3-756B-F4D9-46F0162A7E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92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661AD0B-5F39-91A6-85BA-350BDCD5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활용 조사 결과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F7BA5E-43FC-BE36-B7A7-A7788896C5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38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C0B4BEE-C686-9272-D470-E7ED866F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Framework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D77E2A-9B04-B209-0086-289E825545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17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1E89187-E04B-D5EF-1622-5126567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역할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00AD74-8A59-B53A-02ED-7E23656C12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53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C531D85-FB2A-2758-135C-E17A61C4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Self organization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38AB11-82BF-1E0F-2D17-899EDD31AE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20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D752B61-F859-F232-C2A0-759465F9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제품책임자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865B62-8A10-DDB9-C73C-394C9A8B7E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68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7E6F181-B1BE-26D1-D73B-A4556625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제품책임자 주의사항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913BAF-73EE-FF4D-55A0-28A7AA2950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93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166CE6D-150C-E6DA-01B7-447AE543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Master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0DF6FE-517A-7B71-EB79-2A19027493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49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3AF9C46-E4D6-C580-9BFB-8A2231E5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Master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A88D42-4342-FC1E-1844-15A0C3F0F3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80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F9C2258-2544-63EE-06E2-1467520B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Master Type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0396D5-6A56-8176-79E1-38B8FD06A6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42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4170C21-B478-08FE-39DA-7CCA910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1/6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4B7327-8AD7-20BD-E53E-1E86E61803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08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672E63D-7615-961D-C090-BEC5DD9C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2/6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81F94B-5E33-9093-9646-FA9C541C74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89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748F860-BF92-3ACF-7FF2-1E5A0DBF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3/6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045D0C-BE80-3E6D-BCE1-F206CCAD13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96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FC89E2E-5593-3EBB-A9E0-7C76EC50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4/6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D2B3D9-0FE8-3E8A-5C2F-8A1EB7ED45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974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4FF73C2-7C54-B08D-D781-216C4B69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5/6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EABEF7-CDAB-6CC4-E9FE-B19E6C534C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48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E62D6E2-9E1E-6227-CE19-08E80DDC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애자일 적합성 평가 </a:t>
            </a:r>
            <a:r>
              <a:rPr lang="en-US" altLang="ko-KR"/>
              <a:t>– 6/6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E5F84F-7207-FAC0-A47A-1C68FFFECD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636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AECE4E1-9A75-90C7-DDD4-96DB7D17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975CBD-2E0C-949F-44FC-F00F938C05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58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BBA6CC2-310B-ADC2-1FFB-9AEE5EAF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910124-93C8-070E-5948-947F5E9991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84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37B596D-39C7-4E06-0ADB-E1C3CBF0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One Page SCRUM Process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E2AA07-FE55-A71B-52B9-A31C535593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76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0204003-D134-E1CD-4C1D-CBC2E7F3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Process – Product Backlog </a:t>
            </a:r>
            <a:r>
              <a:rPr lang="ko-KR" altLang="en-US"/>
              <a:t>정의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FA0DF2-B84E-6725-5647-BC1176D548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12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334E495-3EB6-9681-5988-A50D851C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Product Backlog </a:t>
            </a:r>
            <a:r>
              <a:rPr lang="ko-KR" altLang="en-US"/>
              <a:t>정의 </a:t>
            </a:r>
            <a:r>
              <a:rPr lang="en-US" altLang="ko-KR"/>
              <a:t>- </a:t>
            </a:r>
            <a:r>
              <a:rPr lang="ko-KR" altLang="en-US"/>
              <a:t>고려사항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607EE5-FB6B-A46A-4FBB-5E43400089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523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8BFB79F-9E63-EE50-9E44-2EC52D6C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 Story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E59FB3-E52E-D9B6-95B6-32E02339DF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95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7D6A704-75D4-571C-7D9E-8676A20A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 Story </a:t>
            </a:r>
            <a:r>
              <a:rPr lang="ko-KR" altLang="en-US"/>
              <a:t>작성 원칙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E143EA-A459-C4AB-848C-60193E8489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96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901BE90-266E-18E2-1AC9-401BCE34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DoD(Definition of Done) </a:t>
            </a:r>
            <a:r>
              <a:rPr lang="ko-KR" altLang="en-US"/>
              <a:t>정의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579CB6-C00E-ADC8-1D82-BD7221C0E1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960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37E9D38-2E37-A34F-A01F-5B6737CD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Technical Story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925A6-18F8-201B-FB95-565F670184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011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EF2D4FB-8028-2A9E-5ADC-463EFE3E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Planning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4D82CE-C720-353E-AD97-E93C992428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93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7292BF1-A6BC-4495-6888-19C0B6C1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Planning </a:t>
            </a:r>
            <a:r>
              <a:rPr lang="ko-KR" altLang="en-US"/>
              <a:t>절차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09EE30-9E60-3B96-97C6-F348B2050B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495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6002B8A-B438-E2BE-788E-FA28BA09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Planning – </a:t>
            </a:r>
            <a:r>
              <a:rPr lang="ko-KR" altLang="en-US"/>
              <a:t>역량 확인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1B19A4-51D3-6F34-CD6A-FA9124163F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150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6320A71-7D0C-7305-B722-4C3A294E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Planning – Sprint Backlog </a:t>
            </a:r>
            <a:r>
              <a:rPr lang="ko-KR" altLang="en-US"/>
              <a:t>도출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650ED4-9119-C7A5-F077-1955216D1C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33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EA1026E-B7F6-AD56-245A-02DD28EE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Product backlog</a:t>
            </a:r>
            <a:r>
              <a:rPr lang="ko-KR" altLang="en-US"/>
              <a:t>에서 </a:t>
            </a:r>
            <a:r>
              <a:rPr lang="en-US" altLang="ko-KR"/>
              <a:t>Sprint Backlog </a:t>
            </a:r>
            <a:r>
              <a:rPr lang="ko-KR" altLang="en-US"/>
              <a:t>도출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98B773-C044-7969-03A5-1FACCCBB7F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043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2DFD6E9-AF08-1873-67A9-A75D7121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Task(</a:t>
            </a:r>
            <a:r>
              <a:rPr lang="ko-KR" altLang="en-US"/>
              <a:t>업무</a:t>
            </a:r>
            <a:r>
              <a:rPr lang="en-US" altLang="ko-KR"/>
              <a:t>) </a:t>
            </a:r>
            <a:r>
              <a:rPr lang="ko-KR" altLang="en-US"/>
              <a:t>정의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76C09D-E565-A55C-5C76-A9D2672E34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748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42C3F20-4CF7-13C7-C494-29395BF9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작업량 추정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9135E8-AB06-5182-DE08-514CCA5782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02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521FBAD-00A8-BE55-EC85-77980AF0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작업량 추정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1E3278-354B-1C25-B575-9A7BC06AC2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275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DE48F92-8DD8-EC6B-638A-F8EF53E0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작업량 추정</a:t>
            </a:r>
            <a:r>
              <a:rPr lang="en-US" altLang="ko-KR"/>
              <a:t>(Estimation) – planning poker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9D7651-CEE2-6359-B911-A9595B8FED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5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0409314-0060-0B6D-0B42-4FC7C4F6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작업량 추정</a:t>
            </a:r>
            <a:r>
              <a:rPr lang="en-US" altLang="ko-KR"/>
              <a:t>(Estimation) – planning poker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5D0DB3-8946-0D0A-5239-C8EB37294C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212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6CE180E-E055-6657-60BC-9AAB9D56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담당자 할당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8C9B53-A74F-DD0D-D9B9-2EE242BF54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549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41971EA-9CD9-2A1C-69AB-F6EB7235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수행 </a:t>
            </a:r>
            <a:r>
              <a:rPr lang="en-US" altLang="ko-KR"/>
              <a:t>– Daily Scrum Meeting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399D6E-2041-87FD-4229-85312B04C7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77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1B41593-BBB6-AD15-8F6B-5223F43B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수행 </a:t>
            </a:r>
            <a:r>
              <a:rPr lang="en-US" altLang="ko-KR"/>
              <a:t>– burndown chart update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C419D3-D1B4-433C-0798-70E7039986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584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68DAA67-D8F0-9207-B20E-754BF682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 </a:t>
            </a:r>
            <a:r>
              <a:rPr lang="ko-KR" altLang="en-US"/>
              <a:t>수행 </a:t>
            </a:r>
            <a:r>
              <a:rPr lang="en-US" altLang="ko-KR"/>
              <a:t>– </a:t>
            </a:r>
            <a:r>
              <a:rPr lang="ko-KR" altLang="en-US"/>
              <a:t>주요 장애 요인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6BFC14-E375-85D1-A345-72D17BFB1C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910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1A9E2AE-851E-5396-88C2-5079BD9D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Review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9CCAA6-3670-9586-17C3-77330FC055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765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2F4E36F-FE87-E683-4FE0-DCE74CEA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Retrospect(</a:t>
            </a:r>
            <a:r>
              <a:rPr lang="ko-KR" altLang="en-US"/>
              <a:t>회고</a:t>
            </a:r>
            <a:r>
              <a:rPr lang="en-US" altLang="ko-KR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A7E9F9-7C17-80B3-3434-D7800CC7CC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529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7B11D6C-E688-75A8-C326-08464D8B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Retrospect(</a:t>
            </a:r>
            <a:r>
              <a:rPr lang="ko-KR" altLang="en-US"/>
              <a:t>회고</a:t>
            </a:r>
            <a:r>
              <a:rPr lang="en-US" altLang="ko-KR"/>
              <a:t>) </a:t>
            </a:r>
            <a:r>
              <a:rPr lang="ko-KR" altLang="en-US"/>
              <a:t>주요 내용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D4261A-BC94-DD0F-4E09-E5890C10B0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632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80C4797-036A-4DD9-D47E-07BE3CC6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Retrospect(</a:t>
            </a:r>
            <a:r>
              <a:rPr lang="ko-KR" altLang="en-US"/>
              <a:t>회고</a:t>
            </a:r>
            <a:r>
              <a:rPr lang="en-US" altLang="ko-KR"/>
              <a:t>) </a:t>
            </a:r>
            <a:r>
              <a:rPr lang="ko-KR" altLang="en-US"/>
              <a:t>시 스크럼 마스터의 역할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4171B0-8837-4E50-0F3E-7A104DE53E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391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F71B154-383F-6F18-21B0-0996355B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스프린트 분석 결과 예시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E546EB-B84E-FF66-1138-7795CB5510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107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DF38A0B-4166-799E-0354-B2BADAD3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애자일 적용 실패 원인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672D92-85E8-9DA6-80A9-8427A53D65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679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12B4235-9FAC-0196-E048-16604D50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애자일에 실패하는 기업들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C2E1FC-B687-067B-465A-99877A91B3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34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6676C41-F58D-531B-9176-54F13386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형식만 갖추는 것을 경계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28F5D9-B2E7-4650-6C03-3BE589235C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34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2F51A5C-FB7C-8B3A-EE4F-BF25780A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스크럼 적용 실패 사례 </a:t>
            </a:r>
            <a:r>
              <a:rPr lang="en-US" altLang="ko-KR"/>
              <a:t>– 1/2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A6A68E-ABFC-498D-E601-619709EF08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011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887724C-DF95-73E5-BF11-A3296E12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스크럼 적용 실패 사례 </a:t>
            </a:r>
            <a:r>
              <a:rPr lang="en-US" altLang="ko-KR"/>
              <a:t>– 2/2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DB3C21-3865-1B98-41C5-C57DA54166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887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BFC5CB6-067B-636A-8A16-64F8873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</a:t>
            </a:r>
            <a:r>
              <a:rPr lang="ko-KR" altLang="en-US"/>
              <a:t>의 변형 </a:t>
            </a:r>
            <a:r>
              <a:rPr lang="en-US" altLang="ko-KR"/>
              <a:t>– water scrum fall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6F06F2-5D74-8E8B-1BE5-65D39865DB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236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00BF2F5-C3E4-BF7D-2176-4181405A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SCRUM</a:t>
            </a:r>
            <a:r>
              <a:rPr lang="ko-KR" altLang="en-US"/>
              <a:t>의 변형 </a:t>
            </a:r>
            <a:r>
              <a:rPr lang="en-US" altLang="ko-KR"/>
              <a:t>– </a:t>
            </a:r>
            <a:r>
              <a:rPr lang="en-US" altLang="ko-KR">
                <a:solidFill>
                  <a:srgbClr val="FF0000"/>
                </a:solidFill>
              </a:rPr>
              <a:t>S</a:t>
            </a:r>
            <a:r>
              <a:rPr lang="en-US" altLang="ko-KR"/>
              <a:t>crum </a:t>
            </a:r>
            <a:r>
              <a:rPr lang="en-US" altLang="ko-KR">
                <a:solidFill>
                  <a:srgbClr val="FF0000"/>
                </a:solidFill>
              </a:rPr>
              <a:t>o</a:t>
            </a:r>
            <a:r>
              <a:rPr lang="en-US" altLang="ko-KR"/>
              <a:t>f </a:t>
            </a:r>
            <a:r>
              <a:rPr lang="en-US" altLang="ko-KR">
                <a:solidFill>
                  <a:srgbClr val="FF0000"/>
                </a:solidFill>
              </a:rPr>
              <a:t>S</a:t>
            </a:r>
            <a:r>
              <a:rPr lang="en-US" altLang="ko-KR"/>
              <a:t>crum(SoS)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093D55-D66B-8ECC-FEF2-04A90645D2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822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0AD296D-0390-938A-8B3C-7D0C45E7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스프린트 계획 </a:t>
            </a:r>
            <a:r>
              <a:rPr lang="en-US" altLang="ko-KR"/>
              <a:t>– 1/3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F35DBC-C059-763A-AE72-E600B33DF3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168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8BB8F35-D028-0BFB-4574-330CDC92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스프린트 계획 </a:t>
            </a:r>
            <a:r>
              <a:rPr lang="en-US" altLang="ko-KR"/>
              <a:t>– 2/3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026810-60EA-8C93-BF93-F2FB3F47B0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820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850617-7050-8926-46A0-14F9EC65D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스프린트 계획 </a:t>
            </a:r>
            <a:r>
              <a:rPr lang="en-US" altLang="ko-KR"/>
              <a:t>– 2/3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EE2E6E-4386-BDE7-ABF0-8367AC86B5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626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788EE2F-B1A8-941E-8CA1-DA10D989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스프린트 계획 </a:t>
            </a:r>
            <a:r>
              <a:rPr lang="en-US" altLang="ko-KR"/>
              <a:t>– 2/3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01D768-4BA4-8668-4A7C-EF6587A53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807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E478918-B6D6-6146-C2DB-67FD3827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r>
              <a:rPr lang="en-US" altLang="ko-KR"/>
              <a:t>: </a:t>
            </a:r>
            <a:r>
              <a:rPr lang="ko-KR" altLang="en-US"/>
              <a:t>스프린트 계획 </a:t>
            </a:r>
            <a:r>
              <a:rPr lang="en-US" altLang="ko-KR"/>
              <a:t>– 3/3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010AFB-75FF-E2DC-C983-3609997DAD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704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9AFDDE9-1BC8-603D-1151-7AE51A99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A8EED5-0BF7-9D60-3724-3813D3C488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662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BB5A0B5-CBB9-6EC8-C09C-31FB24F0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1B0873-A621-0EAC-1C6D-C634D61352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5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506FBD5-452B-C686-C00D-BD933426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상품기획에서 출시까지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7D83CA-ECDC-38C1-C2EC-AF1A667703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851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8421BF2-CDB8-867C-57DC-E56DAB6A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R&amp;D</a:t>
            </a:r>
            <a:r>
              <a:rPr lang="ko-KR" altLang="en-US"/>
              <a:t>분야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F5D9E5-AB3D-A6B2-BD1B-A5B9F45430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267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8965183-6379-2F4D-EDBF-075FACF0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R&amp;D</a:t>
            </a:r>
            <a:r>
              <a:rPr lang="ko-KR" altLang="en-US"/>
              <a:t>분야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1AFB3E-793F-CEEC-13AB-0D8D411610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1790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9CCB94-592F-3C6C-1F75-E965AAFA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e-commerce</a:t>
            </a:r>
            <a:r>
              <a:rPr lang="ko-KR" altLang="en-US"/>
              <a:t>분야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90B65E-3A4F-81AD-9491-68448E25BE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834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3699D0C-9553-6A50-B43E-38D5E728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e-commerce</a:t>
            </a:r>
            <a:r>
              <a:rPr lang="ko-KR" altLang="en-US"/>
              <a:t>분야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70CAD6-53A2-66DF-EE84-B1AA2DB308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181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21D0F41-8494-8C58-1498-2D95F0A6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대규모 프로젝트 </a:t>
            </a:r>
            <a:r>
              <a:rPr lang="en-US" altLang="ko-KR"/>
              <a:t>SCRUM </a:t>
            </a:r>
            <a:r>
              <a:rPr lang="ko-KR" altLang="en-US"/>
              <a:t>적용 사례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E7CDFA-6514-2D06-5E57-00D5BF6C9E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666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A02E66E-3643-B9D2-A630-18F3C57C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사무실 없이 </a:t>
            </a:r>
            <a:r>
              <a:rPr lang="en-US" altLang="ko-KR"/>
              <a:t>DSM </a:t>
            </a:r>
            <a:r>
              <a:rPr lang="ko-KR" altLang="en-US"/>
              <a:t>수행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15FF11-9A14-69F0-67D8-F3D59626E6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85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DF86EC9-0562-4F04-69CB-C54A4D54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의료기기 </a:t>
            </a:r>
            <a:r>
              <a:rPr lang="en-US" altLang="ko-KR"/>
              <a:t>SW</a:t>
            </a:r>
            <a:r>
              <a:rPr lang="ko-KR" altLang="en-US"/>
              <a:t>개발 분야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B5FE53-28E0-B7E2-8B62-5FEB6D7DF7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987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2AF32C5-88CB-ED88-BA17-0C081FDF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스크럼 산출물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42D32E-F255-56DE-EB23-4104D5DB2F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4008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F21ADA2-2DDE-9D9C-0303-231FE9F1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Product backlog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EE4876-8FF7-B887-2C51-12A7199198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123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0F06476-53D7-0DC6-6F12-6B97CF65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Backlog - </a:t>
            </a:r>
            <a:r>
              <a:rPr lang="ko-KR" altLang="en-US"/>
              <a:t>계획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06CFCC-3AB4-5173-BA75-D4225B582C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4470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799EFA9-6881-016E-7080-77C6B3CE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Backlog - </a:t>
            </a:r>
            <a:r>
              <a:rPr lang="ko-KR" altLang="en-US"/>
              <a:t>계획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FA403A-B07A-7891-6382-B7A91925F6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2784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F2944FE-71FD-DE4E-F130-A39170B5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Backlog - </a:t>
            </a:r>
            <a:r>
              <a:rPr lang="ko-KR" altLang="en-US"/>
              <a:t>계획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31D0B7-008F-C24C-3F25-9E54C46B2E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929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607494A-5B4E-427B-0BE2-3E8FBB1A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Backlog - </a:t>
            </a:r>
            <a:r>
              <a:rPr lang="ko-KR" altLang="en-US"/>
              <a:t>수행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3A8A9C-E11A-A334-FE4A-BDA05036A0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76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EA56F40-C139-307F-FEB5-84CA32B2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review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B52DF6-4191-0217-1C91-6A5C3C179A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3758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94E7EA7-5F8A-9C18-D920-0773529F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Sprint </a:t>
            </a:r>
            <a:r>
              <a:rPr lang="ko-KR" altLang="en-US"/>
              <a:t>회고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F5C3B6-5C64-9BD1-78D3-B5B1C9142B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0341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98D33DB-927F-DC05-555D-C6C4A2BC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39AAB0-9DBB-E803-BD50-9FB0B60E3A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13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6B31820-CBA0-0962-37C0-F5D69053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A14573-6C6F-62AD-BA15-8FA211FD79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139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0CE1248-BECA-88C9-8332-AF85CFFC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인터뷰 반응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F0444C-5FF2-D3CA-EB75-2A6A88F36A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135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B2AF5BA-EFAC-DE7B-38DE-90881C50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피해야 할 것 </a:t>
            </a:r>
            <a:r>
              <a:rPr lang="en-US" altLang="ko-KR"/>
              <a:t>– </a:t>
            </a:r>
            <a:r>
              <a:rPr lang="ko-KR" altLang="en-US"/>
              <a:t>스크럼 좀비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06C8A4-728D-EAB6-75AC-E4BE9BC789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446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0247357-FE89-8042-066D-BF09DECE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피해야 할 것 </a:t>
            </a:r>
            <a:r>
              <a:rPr lang="en-US" altLang="ko-KR"/>
              <a:t>– </a:t>
            </a:r>
            <a:r>
              <a:rPr lang="ko-KR" altLang="en-US"/>
              <a:t>스크럼 좀비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E414C0-B5CB-1C35-0046-3BE1B7C580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64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5F986E0-8AEF-78C2-EA81-8424926D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B02529-E395-D6E9-BE2F-4734D9D30C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458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66B39F6-E81D-E1E0-34FC-88E3FC3D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77EC9D-5B13-BF94-979C-B8059F2437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448</Words>
  <Application>Microsoft Office PowerPoint</Application>
  <PresentationFormat>와이드스크린</PresentationFormat>
  <Paragraphs>101</Paragraphs>
  <Slides>111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111</vt:i4>
      </vt:variant>
    </vt:vector>
  </HeadingPairs>
  <TitlesOfParts>
    <vt:vector size="114" baseType="lpstr">
      <vt:lpstr>맑은 고딕</vt:lpstr>
      <vt:lpstr>Arial</vt:lpstr>
      <vt:lpstr>Office 테마</vt:lpstr>
      <vt:lpstr>애자일(스크럼) 방법론</vt:lpstr>
      <vt:lpstr>PowerPoint 프레젠테이션</vt:lpstr>
      <vt:lpstr>과정명: 애자일(스크럼) 방법론</vt:lpstr>
      <vt:lpstr>과정 목표</vt:lpstr>
      <vt:lpstr>SWEBOK 3.0</vt:lpstr>
      <vt:lpstr>PowerPoint 프레젠테이션</vt:lpstr>
      <vt:lpstr>Agile 개발?</vt:lpstr>
      <vt:lpstr>Agile Methodology</vt:lpstr>
      <vt:lpstr>Agile Development</vt:lpstr>
      <vt:lpstr>Agile Development</vt:lpstr>
      <vt:lpstr>전통적인 방법론(Waterfall) 과의 차이</vt:lpstr>
      <vt:lpstr>전통적 방법론과 애자일 방법론의 장단점</vt:lpstr>
      <vt:lpstr>애자일 적용 적합 평가</vt:lpstr>
      <vt:lpstr>agile manifesto(애자일 선언)</vt:lpstr>
      <vt:lpstr>Fail Fast</vt:lpstr>
      <vt:lpstr>Agile 원칙(1/2)</vt:lpstr>
      <vt:lpstr>Agile 원칙(2/2)</vt:lpstr>
      <vt:lpstr>Agile 종류</vt:lpstr>
      <vt:lpstr>익스트림 프로그래밍(eXtreme Programming)</vt:lpstr>
      <vt:lpstr>린(Lean) SW 개발</vt:lpstr>
      <vt:lpstr>린(Lean)과 XP와 스크럼 공통점</vt:lpstr>
      <vt:lpstr>Respect!</vt:lpstr>
      <vt:lpstr>칸반(Kanban, 看板) </vt:lpstr>
      <vt:lpstr>Google trend</vt:lpstr>
      <vt:lpstr>Agile Approaches</vt:lpstr>
      <vt:lpstr>agile 도입 기업</vt:lpstr>
      <vt:lpstr>agile 도입 효과</vt:lpstr>
      <vt:lpstr>SCRUM Methodology</vt:lpstr>
      <vt:lpstr>SCRUM 특성</vt:lpstr>
      <vt:lpstr>SCRUM 중점 가치</vt:lpstr>
      <vt:lpstr>SCRUM 적용 기관/분야</vt:lpstr>
      <vt:lpstr>SCRUM 활용 조사 결과</vt:lpstr>
      <vt:lpstr>SCRUM Framework</vt:lpstr>
      <vt:lpstr>SCRUM 역할</vt:lpstr>
      <vt:lpstr>Self organization</vt:lpstr>
      <vt:lpstr>제품책임자</vt:lpstr>
      <vt:lpstr>제품책임자 주의사항</vt:lpstr>
      <vt:lpstr>SCRUM Master</vt:lpstr>
      <vt:lpstr>SCRUM Master</vt:lpstr>
      <vt:lpstr>SCRUM Master Type</vt:lpstr>
      <vt:lpstr>실습: 애자일 적합성 평가 – 1/6</vt:lpstr>
      <vt:lpstr>실습: 애자일 적합성 평가 – 2/6</vt:lpstr>
      <vt:lpstr>실습: 애자일 적합성 평가 – 3/6</vt:lpstr>
      <vt:lpstr>실습: 애자일 적합성 평가 – 4/6</vt:lpstr>
      <vt:lpstr>실습: 애자일 적합성 평가 – 5/6</vt:lpstr>
      <vt:lpstr>실습: 애자일 적합성 평가 – 6/6</vt:lpstr>
      <vt:lpstr>PowerPoint 프레젠테이션</vt:lpstr>
      <vt:lpstr>PowerPoint 프레젠테이션</vt:lpstr>
      <vt:lpstr>One Page SCRUM Process</vt:lpstr>
      <vt:lpstr>SCRUM Process – Product Backlog 정의</vt:lpstr>
      <vt:lpstr>Product Backlog 정의 - 고려사항</vt:lpstr>
      <vt:lpstr>User Story</vt:lpstr>
      <vt:lpstr>User Story 작성 원칙</vt:lpstr>
      <vt:lpstr>DoD(Definition of Done) 정의</vt:lpstr>
      <vt:lpstr>Technical Story</vt:lpstr>
      <vt:lpstr>Sprint Planning</vt:lpstr>
      <vt:lpstr>Sprint Planning 절차</vt:lpstr>
      <vt:lpstr>Sprint Planning – 역량 확인</vt:lpstr>
      <vt:lpstr>Sprint Planning – Sprint Backlog 도출</vt:lpstr>
      <vt:lpstr>Product backlog에서 Sprint Backlog 도출</vt:lpstr>
      <vt:lpstr>Task(업무) 정의</vt:lpstr>
      <vt:lpstr>작업량 추정</vt:lpstr>
      <vt:lpstr>작업량 추정</vt:lpstr>
      <vt:lpstr>작업량 추정(Estimation) – planning poker</vt:lpstr>
      <vt:lpstr>작업량 추정(Estimation) – planning poker</vt:lpstr>
      <vt:lpstr>담당자 할당</vt:lpstr>
      <vt:lpstr>SCRUM 수행 – Daily Scrum Meeting</vt:lpstr>
      <vt:lpstr>SCRUM 수행 – burndown chart update</vt:lpstr>
      <vt:lpstr>SCRUM 수행 – 주요 장애 요인</vt:lpstr>
      <vt:lpstr>Sprint Review</vt:lpstr>
      <vt:lpstr>Sprint Retrospect(회고)</vt:lpstr>
      <vt:lpstr>Sprint Retrospect(회고) 주요 내용</vt:lpstr>
      <vt:lpstr>Sprint Retrospect(회고) 시 스크럼 마스터의 역할</vt:lpstr>
      <vt:lpstr>스프린트 분석 결과 예시</vt:lpstr>
      <vt:lpstr>애자일 적용 실패 원인</vt:lpstr>
      <vt:lpstr>애자일에 실패하는 기업들</vt:lpstr>
      <vt:lpstr>형식만 갖추는 것을 경계</vt:lpstr>
      <vt:lpstr>스크럼 적용 실패 사례 – 1/2</vt:lpstr>
      <vt:lpstr>스크럼 적용 실패 사례 – 2/2</vt:lpstr>
      <vt:lpstr>SCRUM의 변형 – water scrum fall</vt:lpstr>
      <vt:lpstr>SCRUM의 변형 – Scrum of Scrum(SoS)</vt:lpstr>
      <vt:lpstr>실습: 스프린트 계획 – 1/3</vt:lpstr>
      <vt:lpstr>실습: 스프린트 계획 – 2/3</vt:lpstr>
      <vt:lpstr>실습: 스프린트 계획 – 2/3</vt:lpstr>
      <vt:lpstr>실습: 스프린트 계획 – 2/3</vt:lpstr>
      <vt:lpstr>실습: 스프린트 계획 – 3/3</vt:lpstr>
      <vt:lpstr>PowerPoint 프레젠테이션</vt:lpstr>
      <vt:lpstr>PowerPoint 프레젠테이션</vt:lpstr>
      <vt:lpstr>상품기획에서 출시까지 SCRUM 적용 사례</vt:lpstr>
      <vt:lpstr>R&amp;D분야 SCRUM 적용 사례</vt:lpstr>
      <vt:lpstr>R&amp;D분야 SCRUM 적용 사례</vt:lpstr>
      <vt:lpstr>e-commerce분야 SCRUM 적용 사례</vt:lpstr>
      <vt:lpstr>e-commerce분야 SCRUM 적용 사례</vt:lpstr>
      <vt:lpstr>대규모 프로젝트 SCRUM 적용 사례</vt:lpstr>
      <vt:lpstr>사무실 없이 DSM 수행</vt:lpstr>
      <vt:lpstr>의료기기 SW개발 분야</vt:lpstr>
      <vt:lpstr>스크럼 산출물</vt:lpstr>
      <vt:lpstr>Product backlog</vt:lpstr>
      <vt:lpstr>Sprint Backlog - 계획</vt:lpstr>
      <vt:lpstr>Sprint Backlog - 계획</vt:lpstr>
      <vt:lpstr>Sprint Backlog - 계획</vt:lpstr>
      <vt:lpstr>Sprint Backlog - 수행</vt:lpstr>
      <vt:lpstr>Sprint review</vt:lpstr>
      <vt:lpstr>Sprint 회고</vt:lpstr>
      <vt:lpstr>PowerPoint 프레젠테이션</vt:lpstr>
      <vt:lpstr>PowerPoint 프레젠테이션</vt:lpstr>
      <vt:lpstr>인터뷰 반응</vt:lpstr>
      <vt:lpstr>피해야 할 것 – 스크럼 좀비</vt:lpstr>
      <vt:lpstr>피해야 할 것 – 스크럼 좀비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승현 김</dc:creator>
  <cp:lastModifiedBy>승현 김</cp:lastModifiedBy>
  <cp:revision>3</cp:revision>
  <dcterms:created xsi:type="dcterms:W3CDTF">2026-10-02T02:36:08Z</dcterms:created>
  <dcterms:modified xsi:type="dcterms:W3CDTF">2026-10-06T06:18:29Z</dcterms:modified>
</cp:coreProperties>
</file>